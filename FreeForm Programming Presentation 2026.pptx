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Montserrat"/>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fntdata"/><Relationship Id="rId22" Type="http://schemas.openxmlformats.org/officeDocument/2006/relationships/font" Target="fonts/Montserrat-boldItalic.fntdata"/><Relationship Id="rId21" Type="http://schemas.openxmlformats.org/officeDocument/2006/relationships/font" Target="fonts/Montserrat-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Italic.fntdata"/><Relationship Id="rId25"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Montserrat-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Opening slide- showing my overarching aim</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49b8b8f4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49b8b8f4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Intro- the f1 season can be never be too predictable. The development of the car and the team occur not just prior to the season, but also during the season alongside the races. </a:t>
            </a:r>
            <a:endParaRPr/>
          </a:p>
          <a:p>
            <a:pPr indent="0" lvl="0" marL="0" rtl="0" algn="l">
              <a:spcBef>
                <a:spcPts val="0"/>
              </a:spcBef>
              <a:spcAft>
                <a:spcPts val="0"/>
              </a:spcAft>
              <a:buNone/>
            </a:pPr>
            <a:r>
              <a:rPr lang="en-GB"/>
              <a:t>My aim was to have a wide analysis of the season for each team and driver. </a:t>
            </a:r>
            <a:endParaRPr/>
          </a:p>
          <a:p>
            <a:pPr indent="0" lvl="0" marL="0" rtl="0" algn="l">
              <a:spcBef>
                <a:spcPts val="0"/>
              </a:spcBef>
              <a:spcAft>
                <a:spcPts val="0"/>
              </a:spcAft>
              <a:buNone/>
            </a:pPr>
            <a:r>
              <a:rPr lang="en-GB"/>
              <a:t>In some circumstances, linear improvements could be viewed - like a new driver gaining confidence. However, it can be generally non-linear, with certain cars and drivers performing better or worse at different tracks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49b8b8f48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49b8b8f48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Dataset - i chose to just focus on grand prix  results post merging each into qualifying and race - this was because I had felt the data was not lacking without the sprint results. </a:t>
            </a:r>
            <a:endParaRPr/>
          </a:p>
          <a:p>
            <a:pPr indent="0" lvl="0" marL="0" rtl="0" algn="l">
              <a:spcBef>
                <a:spcPts val="0"/>
              </a:spcBef>
              <a:spcAft>
                <a:spcPts val="0"/>
              </a:spcAft>
              <a:buNone/>
            </a:pPr>
            <a:r>
              <a:rPr lang="en-GB"/>
              <a:t>Cleaning and merging of the datasets - multiple ‘rounds’ due to observing small errors in the data set throughout my analysis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49b8b8f48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b49b8b8f48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First plot was just to look at the correlation between qualifying and race result - with a classified finish. I had assumed this would be a bit messy, and not showing much- which it did , a positive trend can be seen with the trend line,but overall the plot cannot act as a prediction and isnt very analytical. Began the questions of suitability of certain plots, which i considered throughout.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b49b8b8f48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b49b8b8f48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Changes per track - shows the scatter plot in a more logistical way - however has not got enough detail to be a fantastic plot.</a:t>
            </a:r>
            <a:endParaRPr/>
          </a:p>
          <a:p>
            <a:pPr indent="0" lvl="0" marL="0" rtl="0" algn="l">
              <a:spcBef>
                <a:spcPts val="0"/>
              </a:spcBef>
              <a:spcAft>
                <a:spcPts val="0"/>
              </a:spcAft>
              <a:buNone/>
            </a:pPr>
            <a:r>
              <a:rPr lang="en-GB"/>
              <a:t>Change per team - this allows analysis of how teams perform after qualifying - their race vs qualifying approach - who is just faster and who has a better strategy for the race. E.g McLaren lost a position from qualifying - generally was the fastest car this season, so the drivers racing and/or </a:t>
            </a:r>
            <a:r>
              <a:rPr lang="en-GB"/>
              <a:t>strategy</a:t>
            </a:r>
            <a:r>
              <a:rPr lang="en-GB"/>
              <a:t> lost them positions in the race. Haas and Kick Sauber - midfield cars, but their racing meant they gained positions and even points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49b8b8f48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b49b8b8f48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Observing what teams were getting the points, this doesnt factor the amount of points gained from the grand prix, but i wanted to focus on consistency. This is further seen by the podium finishes, where even less teams have have them,, with a handful being only 1 or 2. For example, Ferrari - they scored points in most races (19/24 races) but not many podiums, showing a consistent point scoring team, but not a high performing one this season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49b8b8f48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b49b8b8f48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Average race finish - to zoom into the points finishes and their consistency - average race position - in an average race who finishes where? The bar plot is more </a:t>
            </a:r>
            <a:r>
              <a:rPr lang="en-GB"/>
              <a:t>susceptible to extreme results - to improve this box and whisker plot - shows the IQR and the overall range with outliers. Shows the most consistent teams, who finishes in a similar position most of the time. </a:t>
            </a:r>
            <a:r>
              <a:rPr lang="en-GB"/>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b49b8b8f48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b49b8b8f48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head to head battle bar chart. Who was the better driver on the team this season? Some have clear winners, with varying level of extremes - albon is the winner at williams but it is 14:10 , so not as extreme as 23:1at redbull. Some are  abit more 50;50, like at haas, mclaren and kicksauber.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49b8b8f48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b49b8b8f48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UNSUITABLE PLOT - shows the messiness of plotting 21 drivers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b49b8b8f48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b49b8b8f48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When considering individual drivers , it is better to focus on less, no more than 10, especially when looking at every race. This shows my definition of midfield, it is still a bit messy, as they all finish consistently within a certain range of positions - the difference in points between 8th and 15th was 35 points, which includes sprint races, so overall about 1 point per race difference between 8th and 15th - so I expected to see the results a bit more clustered. This would be a good plot if comparing two drivers on a team, or fighting for title (Verstappen, Piastri, Norris) for example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b49b8b8f48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b49b8b8f48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To visualise the </a:t>
            </a:r>
            <a:r>
              <a:rPr lang="en-GB"/>
              <a:t>midfield more clearly, box plot is good for analysing their consistency and theory median race position. It is interesting that the median is not in the order of the standings - highlights the range of finishes - something that couldnt be seen on a bar chart or line graph.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b49b8b8f48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b49b8b8f48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Violin plot for </a:t>
            </a:r>
            <a:r>
              <a:rPr lang="en-GB"/>
              <a:t>distribution</a:t>
            </a:r>
            <a:r>
              <a:rPr lang="en-GB"/>
              <a:t> - analyse 10 random drivers - higher density is where they mostly finish, a smaller shape shows a lower range and it </a:t>
            </a:r>
            <a:r>
              <a:rPr lang="en-GB"/>
              <a:t>being rectangular would show no particular position was the most common. Triangular shows higher number of  finishes in one area, slowly ‘trickling’ down to their less common personal ‘outlier’ positions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b49b8b8f48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b49b8b8f48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As above - overall I was able to have my data </a:t>
            </a:r>
            <a:r>
              <a:rPr lang="en-GB"/>
              <a:t>analysis</a:t>
            </a:r>
            <a:r>
              <a:rPr lang="en-GB"/>
              <a:t> all come under the aim of ‘driver and team progression and consistency throughout the F1 2025 season’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Formula One 2025 Season</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How did drivers and constructors progress throughout the season?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Formula One 2025 Season - Introduction</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In one F1 season there can be a lot of developments with cars, drivers and teams </a:t>
            </a:r>
            <a:endParaRPr/>
          </a:p>
          <a:p>
            <a:pPr indent="-311150" lvl="0" marL="457200" rtl="0" algn="l">
              <a:spcBef>
                <a:spcPts val="0"/>
              </a:spcBef>
              <a:spcAft>
                <a:spcPts val="0"/>
              </a:spcAft>
              <a:buSzPts val="1300"/>
              <a:buChar char="●"/>
            </a:pPr>
            <a:r>
              <a:rPr lang="en-GB"/>
              <a:t>This can be due to  factors like car development and ‘rookies’ getting more confidence</a:t>
            </a:r>
            <a:endParaRPr/>
          </a:p>
          <a:p>
            <a:pPr indent="-311150" lvl="0" marL="457200" rtl="0" algn="l">
              <a:spcBef>
                <a:spcPts val="0"/>
              </a:spcBef>
              <a:spcAft>
                <a:spcPts val="0"/>
              </a:spcAft>
              <a:buSzPts val="1300"/>
              <a:buChar char="●"/>
            </a:pPr>
            <a:r>
              <a:rPr lang="en-GB"/>
              <a:t>However, some cars are just </a:t>
            </a:r>
            <a:r>
              <a:rPr lang="en-GB"/>
              <a:t>naturally</a:t>
            </a:r>
            <a:r>
              <a:rPr lang="en-GB"/>
              <a:t> stronger at different tracks which is not in a ‘linear’ order </a:t>
            </a:r>
            <a:endParaRPr/>
          </a:p>
          <a:p>
            <a:pPr indent="-311150" lvl="0" marL="457200" rtl="0" algn="l">
              <a:spcBef>
                <a:spcPts val="0"/>
              </a:spcBef>
              <a:spcAft>
                <a:spcPts val="0"/>
              </a:spcAft>
              <a:buSzPts val="1300"/>
              <a:buChar char="●"/>
            </a:pPr>
            <a:r>
              <a:rPr lang="en-GB"/>
              <a:t>To analyse these, a wider analysis can be done, looking at the season as a whole as opposed to one or a few tracks of data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The Dataset </a:t>
            </a:r>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The </a:t>
            </a:r>
            <a:r>
              <a:rPr lang="en-GB"/>
              <a:t>initial</a:t>
            </a:r>
            <a:r>
              <a:rPr lang="en-GB"/>
              <a:t> focus was the qualifying for both sprint and grand prix races, and then the race results </a:t>
            </a:r>
            <a:endParaRPr/>
          </a:p>
          <a:p>
            <a:pPr indent="-311150" lvl="0" marL="457200" rtl="0" algn="l">
              <a:spcBef>
                <a:spcPts val="0"/>
              </a:spcBef>
              <a:spcAft>
                <a:spcPts val="0"/>
              </a:spcAft>
              <a:buSzPts val="1300"/>
              <a:buChar char="●"/>
            </a:pPr>
            <a:r>
              <a:rPr lang="en-GB"/>
              <a:t>The qualifying results were merged with their respective race results </a:t>
            </a:r>
            <a:endParaRPr/>
          </a:p>
          <a:p>
            <a:pPr indent="-311150" lvl="0" marL="457200" rtl="0" algn="l">
              <a:spcBef>
                <a:spcPts val="0"/>
              </a:spcBef>
              <a:spcAft>
                <a:spcPts val="0"/>
              </a:spcAft>
              <a:buSzPts val="1300"/>
              <a:buChar char="●"/>
            </a:pPr>
            <a:r>
              <a:rPr lang="en-GB"/>
              <a:t>The two datasets both contained ‘core details’ of the race weekend: the track, driver, their qualifying position and lap times, then their race position and lap times and fastest lap time </a:t>
            </a:r>
            <a:endParaRPr/>
          </a:p>
          <a:p>
            <a:pPr indent="-311150" lvl="0" marL="457200" rtl="0" algn="l">
              <a:spcBef>
                <a:spcPts val="0"/>
              </a:spcBef>
              <a:spcAft>
                <a:spcPts val="0"/>
              </a:spcAft>
              <a:buSzPts val="1300"/>
              <a:buChar char="●"/>
            </a:pPr>
            <a:r>
              <a:rPr lang="en-GB"/>
              <a:t>This required an </a:t>
            </a:r>
            <a:r>
              <a:rPr lang="en-GB"/>
              <a:t>initial</a:t>
            </a:r>
            <a:r>
              <a:rPr lang="en-GB"/>
              <a:t> clean and merge of datasets, dropping any duplicates ( e.g track, driver number). </a:t>
            </a:r>
            <a:endParaRPr/>
          </a:p>
          <a:p>
            <a:pPr indent="-311150" lvl="0" marL="457200" rtl="0" algn="l">
              <a:spcBef>
                <a:spcPts val="0"/>
              </a:spcBef>
              <a:spcAft>
                <a:spcPts val="0"/>
              </a:spcAft>
              <a:buSzPts val="1300"/>
              <a:buChar char="●"/>
            </a:pPr>
            <a:r>
              <a:rPr lang="en-GB"/>
              <a:t>Further</a:t>
            </a:r>
            <a:r>
              <a:rPr lang="en-GB"/>
              <a:t> cleans - duplicates of same teams because of differences in capitalisation of letters, renaming column names for neatness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Correlation between qualifying position and race position  </a:t>
            </a:r>
            <a:endParaRPr/>
          </a:p>
        </p:txBody>
      </p:sp>
      <p:sp>
        <p:nvSpPr>
          <p:cNvPr id="153" name="Google Shape;153;p16"/>
          <p:cNvSpPr txBox="1"/>
          <p:nvPr>
            <p:ph idx="1" type="body"/>
          </p:nvPr>
        </p:nvSpPr>
        <p:spPr>
          <a:xfrm>
            <a:off x="1025075" y="1307850"/>
            <a:ext cx="2508000" cy="359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Comments:</a:t>
            </a:r>
            <a:endParaRPr/>
          </a:p>
          <a:p>
            <a:pPr indent="-311150" lvl="0" marL="457200" rtl="0" algn="l">
              <a:spcBef>
                <a:spcPts val="1200"/>
              </a:spcBef>
              <a:spcAft>
                <a:spcPts val="0"/>
              </a:spcAft>
              <a:buSzPts val="1300"/>
              <a:buChar char="●"/>
            </a:pPr>
            <a:r>
              <a:rPr lang="en-GB"/>
              <a:t>Generally, an okay plot, it acted as a starter for me when first looking at the data</a:t>
            </a:r>
            <a:endParaRPr/>
          </a:p>
          <a:p>
            <a:pPr indent="-311150" lvl="0" marL="457200" rtl="0" algn="l">
              <a:spcBef>
                <a:spcPts val="0"/>
              </a:spcBef>
              <a:spcAft>
                <a:spcPts val="0"/>
              </a:spcAft>
              <a:buSzPts val="1300"/>
              <a:buChar char="●"/>
            </a:pPr>
            <a:r>
              <a:rPr lang="en-GB"/>
              <a:t>Positive trend - finish higher than qualify </a:t>
            </a:r>
            <a:endParaRPr/>
          </a:p>
          <a:p>
            <a:pPr indent="-311150" lvl="0" marL="457200" rtl="0" algn="l">
              <a:spcBef>
                <a:spcPts val="0"/>
              </a:spcBef>
              <a:spcAft>
                <a:spcPts val="0"/>
              </a:spcAft>
              <a:buSzPts val="1300"/>
              <a:buChar char="●"/>
            </a:pPr>
            <a:r>
              <a:rPr lang="en-GB"/>
              <a:t>However, a lot of outliers</a:t>
            </a:r>
            <a:endParaRPr/>
          </a:p>
          <a:p>
            <a:pPr indent="-311150" lvl="0" marL="457200" rtl="0" algn="l">
              <a:spcBef>
                <a:spcPts val="0"/>
              </a:spcBef>
              <a:spcAft>
                <a:spcPts val="0"/>
              </a:spcAft>
              <a:buSzPts val="1300"/>
              <a:buChar char="●"/>
            </a:pPr>
            <a:r>
              <a:rPr lang="en-GB"/>
              <a:t>Cannot act as a prediction for a race finish </a:t>
            </a:r>
            <a:endParaRPr/>
          </a:p>
          <a:p>
            <a:pPr indent="-311150" lvl="0" marL="457200" rtl="0" algn="l">
              <a:spcBef>
                <a:spcPts val="0"/>
              </a:spcBef>
              <a:spcAft>
                <a:spcPts val="0"/>
              </a:spcAft>
              <a:buSzPts val="1300"/>
              <a:buChar char="●"/>
            </a:pPr>
            <a:r>
              <a:rPr lang="en-GB"/>
              <a:t>Does not consider specific drivers, tracks or teams - very general </a:t>
            </a:r>
            <a:endParaRPr/>
          </a:p>
          <a:p>
            <a:pPr indent="-311150" lvl="0" marL="457200" rtl="0" algn="l">
              <a:spcBef>
                <a:spcPts val="0"/>
              </a:spcBef>
              <a:spcAft>
                <a:spcPts val="0"/>
              </a:spcAft>
              <a:buSzPts val="1300"/>
              <a:buChar char="●"/>
            </a:pPr>
            <a:r>
              <a:rPr lang="en-GB"/>
              <a:t>Not very analytical </a:t>
            </a:r>
            <a:endParaRPr/>
          </a:p>
        </p:txBody>
      </p:sp>
      <p:pic>
        <p:nvPicPr>
          <p:cNvPr id="154" name="Google Shape;154;p16"/>
          <p:cNvPicPr preferRelativeResize="0"/>
          <p:nvPr/>
        </p:nvPicPr>
        <p:blipFill>
          <a:blip r:embed="rId3">
            <a:alphaModFix/>
          </a:blip>
          <a:stretch>
            <a:fillRect/>
          </a:stretch>
        </p:blipFill>
        <p:spPr>
          <a:xfrm>
            <a:off x="3627925" y="974625"/>
            <a:ext cx="2656800" cy="2147150"/>
          </a:xfrm>
          <a:prstGeom prst="rect">
            <a:avLst/>
          </a:prstGeom>
          <a:noFill/>
          <a:ln>
            <a:noFill/>
          </a:ln>
        </p:spPr>
      </p:pic>
      <p:pic>
        <p:nvPicPr>
          <p:cNvPr id="155" name="Google Shape;155;p16"/>
          <p:cNvPicPr preferRelativeResize="0"/>
          <p:nvPr/>
        </p:nvPicPr>
        <p:blipFill>
          <a:blip r:embed="rId4">
            <a:alphaModFix/>
          </a:blip>
          <a:stretch>
            <a:fillRect/>
          </a:stretch>
        </p:blipFill>
        <p:spPr>
          <a:xfrm>
            <a:off x="6382200" y="2822601"/>
            <a:ext cx="2656800" cy="2147148"/>
          </a:xfrm>
          <a:prstGeom prst="rect">
            <a:avLst/>
          </a:prstGeom>
          <a:noFill/>
          <a:ln>
            <a:noFill/>
          </a:ln>
        </p:spPr>
      </p:pic>
      <p:sp>
        <p:nvSpPr>
          <p:cNvPr id="156" name="Google Shape;156;p16"/>
          <p:cNvSpPr txBox="1"/>
          <p:nvPr/>
        </p:nvSpPr>
        <p:spPr>
          <a:xfrm>
            <a:off x="6541650" y="1143750"/>
            <a:ext cx="2404500" cy="13620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lt1"/>
              </a:buClr>
              <a:buSzPts val="1900"/>
              <a:buFont typeface="Lato"/>
              <a:buChar char="●"/>
            </a:pPr>
            <a:r>
              <a:rPr lang="en-GB" sz="1900">
                <a:solidFill>
                  <a:schemeClr val="lt1"/>
                </a:solidFill>
                <a:latin typeface="Lato"/>
                <a:ea typeface="Lato"/>
                <a:cs typeface="Lato"/>
                <a:sym typeface="Lato"/>
              </a:rPr>
              <a:t>Simple Scatter Plot</a:t>
            </a:r>
            <a:endParaRPr sz="1900">
              <a:solidFill>
                <a:schemeClr val="lt1"/>
              </a:solidFill>
              <a:latin typeface="Lato"/>
              <a:ea typeface="Lato"/>
              <a:cs typeface="Lato"/>
              <a:sym typeface="Lato"/>
            </a:endParaRPr>
          </a:p>
          <a:p>
            <a:pPr indent="-349250" lvl="0" marL="457200" rtl="0" algn="l">
              <a:spcBef>
                <a:spcPts val="0"/>
              </a:spcBef>
              <a:spcAft>
                <a:spcPts val="0"/>
              </a:spcAft>
              <a:buClr>
                <a:schemeClr val="lt1"/>
              </a:buClr>
              <a:buSzPts val="1900"/>
              <a:buFont typeface="Lato"/>
              <a:buChar char="●"/>
            </a:pPr>
            <a:r>
              <a:rPr lang="en-GB" sz="1900">
                <a:solidFill>
                  <a:schemeClr val="lt1"/>
                </a:solidFill>
                <a:latin typeface="Lato"/>
                <a:ea typeface="Lato"/>
                <a:cs typeface="Lato"/>
                <a:sym typeface="Lato"/>
              </a:rPr>
              <a:t>Polyfit trend fit</a:t>
            </a:r>
            <a:endParaRPr sz="1900">
              <a:solidFill>
                <a:schemeClr val="lt1"/>
              </a:solidFill>
              <a:latin typeface="Lato"/>
              <a:ea typeface="Lato"/>
              <a:cs typeface="Lato"/>
              <a:sym typeface="Lato"/>
            </a:endParaRPr>
          </a:p>
        </p:txBody>
      </p:sp>
      <p:sp>
        <p:nvSpPr>
          <p:cNvPr id="157" name="Google Shape;157;p16"/>
          <p:cNvSpPr txBox="1"/>
          <p:nvPr/>
        </p:nvSpPr>
        <p:spPr>
          <a:xfrm>
            <a:off x="4481500" y="3980050"/>
            <a:ext cx="1731900" cy="98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latin typeface="Lato"/>
                <a:ea typeface="Lato"/>
                <a:cs typeface="Lato"/>
                <a:sym typeface="Lato"/>
              </a:rPr>
              <a:t>Opens up thoughts of suitability of certain plots, explored later on</a:t>
            </a:r>
            <a:endParaRPr sz="1300">
              <a:solidFill>
                <a:schemeClr val="lt1"/>
              </a:solidFill>
              <a:latin typeface="Lato"/>
              <a:ea typeface="Lato"/>
              <a:cs typeface="Lato"/>
              <a:sym typeface="Lato"/>
            </a:endParaRPr>
          </a:p>
        </p:txBody>
      </p:sp>
      <p:sp>
        <p:nvSpPr>
          <p:cNvPr id="158" name="Google Shape;158;p16"/>
          <p:cNvSpPr txBox="1"/>
          <p:nvPr/>
        </p:nvSpPr>
        <p:spPr>
          <a:xfrm>
            <a:off x="389350" y="1472300"/>
            <a:ext cx="600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latin typeface="Lato"/>
                <a:ea typeface="Lato"/>
                <a:cs typeface="Lato"/>
                <a:sym typeface="Lato"/>
              </a:rPr>
              <a:t>1</a:t>
            </a:r>
            <a:endParaRPr sz="1300">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Race and Qualifying Position Changes</a:t>
            </a:r>
            <a:endParaRPr/>
          </a:p>
        </p:txBody>
      </p:sp>
      <p:sp>
        <p:nvSpPr>
          <p:cNvPr id="164" name="Google Shape;164;p17"/>
          <p:cNvSpPr txBox="1"/>
          <p:nvPr>
            <p:ph idx="1" type="body"/>
          </p:nvPr>
        </p:nvSpPr>
        <p:spPr>
          <a:xfrm>
            <a:off x="0" y="1460950"/>
            <a:ext cx="1638000" cy="359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Looking how </a:t>
            </a:r>
            <a:r>
              <a:rPr lang="en-GB"/>
              <a:t>position</a:t>
            </a:r>
            <a:r>
              <a:rPr lang="en-GB"/>
              <a:t> changes per track - to see the average a little more detail</a:t>
            </a:r>
            <a:endParaRPr/>
          </a:p>
          <a:p>
            <a:pPr indent="-311150" lvl="0" marL="457200" rtl="0" algn="l">
              <a:spcBef>
                <a:spcPts val="0"/>
              </a:spcBef>
              <a:spcAft>
                <a:spcPts val="0"/>
              </a:spcAft>
              <a:buSzPts val="1300"/>
              <a:buChar char="●"/>
            </a:pPr>
            <a:r>
              <a:rPr lang="en-GB"/>
              <a:t>+1 is losing a position (e.g 3rd to 4th) , with -1 being gaining a </a:t>
            </a:r>
            <a:r>
              <a:rPr lang="en-GB"/>
              <a:t>position</a:t>
            </a:r>
            <a:r>
              <a:rPr lang="en-GB"/>
              <a:t> (4th to 3rd)</a:t>
            </a:r>
            <a:endParaRPr/>
          </a:p>
        </p:txBody>
      </p:sp>
      <p:pic>
        <p:nvPicPr>
          <p:cNvPr id="165" name="Google Shape;165;p17"/>
          <p:cNvPicPr preferRelativeResize="0"/>
          <p:nvPr/>
        </p:nvPicPr>
        <p:blipFill>
          <a:blip r:embed="rId3">
            <a:alphaModFix/>
          </a:blip>
          <a:stretch>
            <a:fillRect/>
          </a:stretch>
        </p:blipFill>
        <p:spPr>
          <a:xfrm>
            <a:off x="1638000" y="1007938"/>
            <a:ext cx="3463600" cy="3319774"/>
          </a:xfrm>
          <a:prstGeom prst="rect">
            <a:avLst/>
          </a:prstGeom>
          <a:noFill/>
          <a:ln>
            <a:noFill/>
          </a:ln>
        </p:spPr>
      </p:pic>
      <p:pic>
        <p:nvPicPr>
          <p:cNvPr id="166" name="Google Shape;166;p17"/>
          <p:cNvPicPr preferRelativeResize="0"/>
          <p:nvPr/>
        </p:nvPicPr>
        <p:blipFill>
          <a:blip r:embed="rId4">
            <a:alphaModFix/>
          </a:blip>
          <a:stretch>
            <a:fillRect/>
          </a:stretch>
        </p:blipFill>
        <p:spPr>
          <a:xfrm>
            <a:off x="5792175" y="1521700"/>
            <a:ext cx="3031810" cy="3530851"/>
          </a:xfrm>
          <a:prstGeom prst="rect">
            <a:avLst/>
          </a:prstGeom>
          <a:noFill/>
          <a:ln>
            <a:noFill/>
          </a:ln>
        </p:spPr>
      </p:pic>
      <p:sp>
        <p:nvSpPr>
          <p:cNvPr id="167" name="Google Shape;167;p17"/>
          <p:cNvSpPr txBox="1"/>
          <p:nvPr/>
        </p:nvSpPr>
        <p:spPr>
          <a:xfrm>
            <a:off x="5475650" y="954250"/>
            <a:ext cx="3612600" cy="2841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Font typeface="Lato"/>
              <a:buChar char="●"/>
            </a:pPr>
            <a:r>
              <a:rPr lang="en-GB" sz="1300">
                <a:solidFill>
                  <a:schemeClr val="lt1"/>
                </a:solidFill>
                <a:latin typeface="Lato"/>
                <a:ea typeface="Lato"/>
                <a:cs typeface="Lato"/>
                <a:sym typeface="Lato"/>
              </a:rPr>
              <a:t>Looking at features by team allows for analysis of team consistencies </a:t>
            </a:r>
            <a:endParaRPr sz="1300">
              <a:solidFill>
                <a:schemeClr val="lt1"/>
              </a:solidFill>
              <a:latin typeface="Lato"/>
              <a:ea typeface="Lato"/>
              <a:cs typeface="Lato"/>
              <a:sym typeface="Lato"/>
            </a:endParaRPr>
          </a:p>
        </p:txBody>
      </p:sp>
      <p:sp>
        <p:nvSpPr>
          <p:cNvPr id="168" name="Google Shape;168;p17"/>
          <p:cNvSpPr txBox="1"/>
          <p:nvPr/>
        </p:nvSpPr>
        <p:spPr>
          <a:xfrm>
            <a:off x="7878475" y="234050"/>
            <a:ext cx="1076400" cy="4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latin typeface="Lato"/>
                <a:ea typeface="Lato"/>
                <a:cs typeface="Lato"/>
                <a:sym typeface="Lato"/>
              </a:rPr>
              <a:t>2</a:t>
            </a:r>
            <a:endParaRPr sz="1300">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Team Analysis - Points and Podium Finishes</a:t>
            </a:r>
            <a:endParaRPr/>
          </a:p>
        </p:txBody>
      </p:sp>
      <p:pic>
        <p:nvPicPr>
          <p:cNvPr id="174" name="Google Shape;174;p18"/>
          <p:cNvPicPr preferRelativeResize="0"/>
          <p:nvPr/>
        </p:nvPicPr>
        <p:blipFill>
          <a:blip r:embed="rId3">
            <a:alphaModFix/>
          </a:blip>
          <a:stretch>
            <a:fillRect/>
          </a:stretch>
        </p:blipFill>
        <p:spPr>
          <a:xfrm>
            <a:off x="460375" y="1379725"/>
            <a:ext cx="3992649" cy="2384050"/>
          </a:xfrm>
          <a:prstGeom prst="rect">
            <a:avLst/>
          </a:prstGeom>
          <a:noFill/>
          <a:ln>
            <a:noFill/>
          </a:ln>
        </p:spPr>
      </p:pic>
      <p:pic>
        <p:nvPicPr>
          <p:cNvPr id="175" name="Google Shape;175;p18"/>
          <p:cNvPicPr preferRelativeResize="0"/>
          <p:nvPr/>
        </p:nvPicPr>
        <p:blipFill>
          <a:blip r:embed="rId4">
            <a:alphaModFix/>
          </a:blip>
          <a:stretch>
            <a:fillRect/>
          </a:stretch>
        </p:blipFill>
        <p:spPr>
          <a:xfrm>
            <a:off x="4806775" y="1406650"/>
            <a:ext cx="3902450" cy="2330199"/>
          </a:xfrm>
          <a:prstGeom prst="rect">
            <a:avLst/>
          </a:prstGeom>
          <a:noFill/>
          <a:ln>
            <a:noFill/>
          </a:ln>
        </p:spPr>
      </p:pic>
      <p:sp>
        <p:nvSpPr>
          <p:cNvPr id="176" name="Google Shape;176;p18"/>
          <p:cNvSpPr txBox="1"/>
          <p:nvPr/>
        </p:nvSpPr>
        <p:spPr>
          <a:xfrm>
            <a:off x="460375" y="3891700"/>
            <a:ext cx="3892800" cy="9711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Font typeface="Lato"/>
              <a:buChar char="●"/>
            </a:pPr>
            <a:r>
              <a:rPr lang="en-GB" sz="1300">
                <a:solidFill>
                  <a:schemeClr val="lt1"/>
                </a:solidFill>
                <a:latin typeface="Lato"/>
                <a:ea typeface="Lato"/>
                <a:cs typeface="Lato"/>
                <a:sym typeface="Lato"/>
              </a:rPr>
              <a:t>This is done by the number of points finishes (top 10) as opposed to the amount of points - as there are 24 races, 48 is the maximum points finishes available for two drivers</a:t>
            </a:r>
            <a:endParaRPr sz="1300">
              <a:solidFill>
                <a:schemeClr val="lt1"/>
              </a:solidFill>
              <a:latin typeface="Lato"/>
              <a:ea typeface="Lato"/>
              <a:cs typeface="Lato"/>
              <a:sym typeface="Lato"/>
            </a:endParaRPr>
          </a:p>
        </p:txBody>
      </p:sp>
      <p:sp>
        <p:nvSpPr>
          <p:cNvPr id="177" name="Google Shape;177;p18"/>
          <p:cNvSpPr txBox="1"/>
          <p:nvPr/>
        </p:nvSpPr>
        <p:spPr>
          <a:xfrm>
            <a:off x="4847875" y="4021975"/>
            <a:ext cx="3892800" cy="6987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Font typeface="Lato"/>
              <a:buChar char="●"/>
            </a:pPr>
            <a:r>
              <a:rPr lang="en-GB" sz="1300">
                <a:solidFill>
                  <a:schemeClr val="lt1"/>
                </a:solidFill>
                <a:latin typeface="Lato"/>
                <a:ea typeface="Lato"/>
                <a:cs typeface="Lato"/>
                <a:sym typeface="Lato"/>
              </a:rPr>
              <a:t>Likewise - maximum of 48 podiums </a:t>
            </a:r>
            <a:endParaRPr sz="1300">
              <a:solidFill>
                <a:schemeClr val="lt1"/>
              </a:solidFill>
              <a:latin typeface="Lato"/>
              <a:ea typeface="Lato"/>
              <a:cs typeface="Lato"/>
              <a:sym typeface="Lato"/>
            </a:endParaRPr>
          </a:p>
        </p:txBody>
      </p:sp>
      <p:sp>
        <p:nvSpPr>
          <p:cNvPr id="178" name="Google Shape;178;p18"/>
          <p:cNvSpPr txBox="1"/>
          <p:nvPr/>
        </p:nvSpPr>
        <p:spPr>
          <a:xfrm>
            <a:off x="8293000" y="138800"/>
            <a:ext cx="12192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latin typeface="Lato"/>
                <a:ea typeface="Lato"/>
                <a:cs typeface="Lato"/>
                <a:sym typeface="Lato"/>
              </a:rPr>
              <a:t>3</a:t>
            </a:r>
            <a:endParaRPr sz="1300">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Team Finishes Distribution </a:t>
            </a:r>
            <a:endParaRPr/>
          </a:p>
        </p:txBody>
      </p:sp>
      <p:pic>
        <p:nvPicPr>
          <p:cNvPr id="184" name="Google Shape;184;p19"/>
          <p:cNvPicPr preferRelativeResize="0"/>
          <p:nvPr/>
        </p:nvPicPr>
        <p:blipFill>
          <a:blip r:embed="rId3">
            <a:alphaModFix/>
          </a:blip>
          <a:stretch>
            <a:fillRect/>
          </a:stretch>
        </p:blipFill>
        <p:spPr>
          <a:xfrm>
            <a:off x="69500" y="3023725"/>
            <a:ext cx="3318175" cy="1981350"/>
          </a:xfrm>
          <a:prstGeom prst="rect">
            <a:avLst/>
          </a:prstGeom>
          <a:noFill/>
          <a:ln>
            <a:noFill/>
          </a:ln>
        </p:spPr>
      </p:pic>
      <p:pic>
        <p:nvPicPr>
          <p:cNvPr id="185" name="Google Shape;185;p19"/>
          <p:cNvPicPr preferRelativeResize="0"/>
          <p:nvPr/>
        </p:nvPicPr>
        <p:blipFill>
          <a:blip r:embed="rId4">
            <a:alphaModFix/>
          </a:blip>
          <a:stretch>
            <a:fillRect/>
          </a:stretch>
        </p:blipFill>
        <p:spPr>
          <a:xfrm>
            <a:off x="3494275" y="893925"/>
            <a:ext cx="4656499" cy="2663425"/>
          </a:xfrm>
          <a:prstGeom prst="rect">
            <a:avLst/>
          </a:prstGeom>
          <a:noFill/>
          <a:ln>
            <a:noFill/>
          </a:ln>
        </p:spPr>
      </p:pic>
      <p:sp>
        <p:nvSpPr>
          <p:cNvPr id="186" name="Google Shape;186;p19"/>
          <p:cNvSpPr txBox="1"/>
          <p:nvPr/>
        </p:nvSpPr>
        <p:spPr>
          <a:xfrm>
            <a:off x="0" y="1431388"/>
            <a:ext cx="2551500" cy="14688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Font typeface="Lato"/>
              <a:buChar char="●"/>
            </a:pPr>
            <a:r>
              <a:rPr lang="en-GB" sz="1300">
                <a:solidFill>
                  <a:schemeClr val="lt1"/>
                </a:solidFill>
                <a:latin typeface="Lato"/>
                <a:ea typeface="Lato"/>
                <a:cs typeface="Lato"/>
                <a:sym typeface="Lato"/>
              </a:rPr>
              <a:t>Whilst</a:t>
            </a:r>
            <a:r>
              <a:rPr lang="en-GB" sz="1300">
                <a:solidFill>
                  <a:schemeClr val="lt1"/>
                </a:solidFill>
                <a:latin typeface="Lato"/>
                <a:ea typeface="Lato"/>
                <a:cs typeface="Lato"/>
                <a:sym typeface="Lato"/>
              </a:rPr>
              <a:t> this shows generally the best performing teams, it does not give details and can be heavily skewed by a couple of unusually  bad or good finishes </a:t>
            </a:r>
            <a:endParaRPr sz="1300">
              <a:solidFill>
                <a:schemeClr val="lt1"/>
              </a:solidFill>
              <a:latin typeface="Lato"/>
              <a:ea typeface="Lato"/>
              <a:cs typeface="Lato"/>
              <a:sym typeface="Lato"/>
            </a:endParaRPr>
          </a:p>
        </p:txBody>
      </p:sp>
      <p:sp>
        <p:nvSpPr>
          <p:cNvPr id="187" name="Google Shape;187;p19"/>
          <p:cNvSpPr txBox="1"/>
          <p:nvPr/>
        </p:nvSpPr>
        <p:spPr>
          <a:xfrm>
            <a:off x="3387675" y="3557350"/>
            <a:ext cx="5854800" cy="146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latin typeface="Lato"/>
                <a:ea typeface="Lato"/>
                <a:cs typeface="Lato"/>
                <a:sym typeface="Lato"/>
              </a:rPr>
              <a:t>Distribution shows the consistency of the team - smaller </a:t>
            </a:r>
            <a:r>
              <a:rPr lang="en-GB" sz="1300">
                <a:solidFill>
                  <a:schemeClr val="lt1"/>
                </a:solidFill>
                <a:latin typeface="Lato"/>
                <a:ea typeface="Lato"/>
                <a:cs typeface="Lato"/>
                <a:sym typeface="Lato"/>
              </a:rPr>
              <a:t>distributions</a:t>
            </a:r>
            <a:r>
              <a:rPr lang="en-GB" sz="1300">
                <a:solidFill>
                  <a:schemeClr val="lt1"/>
                </a:solidFill>
                <a:latin typeface="Lato"/>
                <a:ea typeface="Lato"/>
                <a:cs typeface="Lato"/>
                <a:sym typeface="Lato"/>
              </a:rPr>
              <a:t> indicate most of the finishes being in a smaller range (IQR) , indicating any outliers which may have skewed results in a simple bar chart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GB" sz="1300">
                <a:solidFill>
                  <a:schemeClr val="lt1"/>
                </a:solidFill>
                <a:latin typeface="Lato"/>
                <a:ea typeface="Lato"/>
                <a:cs typeface="Lato"/>
                <a:sym typeface="Lato"/>
              </a:rPr>
              <a:t>Mclaren had the smallest IQR, with a couple of extreme outliers</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GB" sz="1300">
                <a:solidFill>
                  <a:schemeClr val="lt1"/>
                </a:solidFill>
                <a:latin typeface="Lato"/>
                <a:ea typeface="Lato"/>
                <a:cs typeface="Lato"/>
                <a:sym typeface="Lato"/>
              </a:rPr>
              <a:t>Red Bull had the largest IQR;  a lack of consistency across the team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GB" sz="1300">
                <a:solidFill>
                  <a:schemeClr val="lt1"/>
                </a:solidFill>
                <a:latin typeface="Lato"/>
                <a:ea typeface="Lato"/>
                <a:cs typeface="Lato"/>
                <a:sym typeface="Lato"/>
              </a:rPr>
              <a:t>Kick Sauber, Racing Bulls and Red Bull had the largest overall range</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GB" sz="1300">
                <a:solidFill>
                  <a:schemeClr val="lt1"/>
                </a:solidFill>
                <a:latin typeface="Lato"/>
                <a:ea typeface="Lato"/>
                <a:cs typeface="Lato"/>
                <a:sym typeface="Lato"/>
              </a:rPr>
              <a:t>Alpine seems to be the lowest performing team with median and IQR</a:t>
            </a:r>
            <a:endParaRPr sz="1300">
              <a:solidFill>
                <a:schemeClr val="lt1"/>
              </a:solidFill>
              <a:latin typeface="Lato"/>
              <a:ea typeface="Lato"/>
              <a:cs typeface="Lato"/>
              <a:sym typeface="Lato"/>
            </a:endParaRPr>
          </a:p>
        </p:txBody>
      </p:sp>
      <p:sp>
        <p:nvSpPr>
          <p:cNvPr id="188" name="Google Shape;188;p19"/>
          <p:cNvSpPr txBox="1"/>
          <p:nvPr/>
        </p:nvSpPr>
        <p:spPr>
          <a:xfrm>
            <a:off x="8017125" y="91175"/>
            <a:ext cx="866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latin typeface="Lato"/>
                <a:ea typeface="Lato"/>
                <a:cs typeface="Lato"/>
                <a:sym typeface="Lato"/>
              </a:rPr>
              <a:t>4</a:t>
            </a:r>
            <a:endParaRPr sz="1300">
              <a:solidFill>
                <a:schemeClr val="l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Team Head to Head </a:t>
            </a:r>
            <a:endParaRPr/>
          </a:p>
        </p:txBody>
      </p:sp>
      <p:sp>
        <p:nvSpPr>
          <p:cNvPr id="194" name="Google Shape;194;p20"/>
          <p:cNvSpPr txBox="1"/>
          <p:nvPr>
            <p:ph idx="1" type="body"/>
          </p:nvPr>
        </p:nvSpPr>
        <p:spPr>
          <a:xfrm>
            <a:off x="1297500" y="1219325"/>
            <a:ext cx="2206800" cy="34635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en-GB"/>
              <a:t>Simple bar chart to show team ‘Head to Head Battles’</a:t>
            </a:r>
            <a:endParaRPr/>
          </a:p>
          <a:p>
            <a:pPr indent="-311150" lvl="0" marL="457200" rtl="0" algn="l">
              <a:spcBef>
                <a:spcPts val="0"/>
              </a:spcBef>
              <a:spcAft>
                <a:spcPts val="0"/>
              </a:spcAft>
              <a:buSzPts val="1300"/>
              <a:buChar char="●"/>
            </a:pPr>
            <a:r>
              <a:rPr lang="en-GB"/>
              <a:t>Organised into team and team colours </a:t>
            </a:r>
            <a:endParaRPr/>
          </a:p>
          <a:p>
            <a:pPr indent="-311150" lvl="0" marL="457200" rtl="0" algn="l">
              <a:spcBef>
                <a:spcPts val="0"/>
              </a:spcBef>
              <a:spcAft>
                <a:spcPts val="0"/>
              </a:spcAft>
              <a:buSzPts val="1300"/>
              <a:buChar char="●"/>
            </a:pPr>
            <a:r>
              <a:rPr lang="en-GB"/>
              <a:t>Red Bull , Ferrari and Mercedes show a clear </a:t>
            </a:r>
            <a:r>
              <a:rPr lang="en-GB"/>
              <a:t>dominance</a:t>
            </a:r>
            <a:r>
              <a:rPr lang="en-GB"/>
              <a:t> of Verstappen, Leclerc and Russell </a:t>
            </a:r>
            <a:r>
              <a:rPr lang="en-GB"/>
              <a:t>respectively</a:t>
            </a:r>
            <a:r>
              <a:rPr lang="en-GB"/>
              <a:t> </a:t>
            </a:r>
            <a:endParaRPr/>
          </a:p>
          <a:p>
            <a:pPr indent="-311150" lvl="0" marL="457200" rtl="0" algn="l">
              <a:spcBef>
                <a:spcPts val="0"/>
              </a:spcBef>
              <a:spcAft>
                <a:spcPts val="0"/>
              </a:spcAft>
              <a:buSzPts val="1300"/>
              <a:buChar char="●"/>
            </a:pPr>
            <a:r>
              <a:rPr lang="en-GB"/>
              <a:t>Whereas Haas, Kick Sauber and McLaren are reasonably even, with no </a:t>
            </a:r>
            <a:r>
              <a:rPr lang="en-GB"/>
              <a:t>particular</a:t>
            </a:r>
            <a:r>
              <a:rPr lang="en-GB"/>
              <a:t> ‘dominant’ driver</a:t>
            </a:r>
            <a:endParaRPr/>
          </a:p>
        </p:txBody>
      </p:sp>
      <p:pic>
        <p:nvPicPr>
          <p:cNvPr id="195" name="Google Shape;195;p20"/>
          <p:cNvPicPr preferRelativeResize="0"/>
          <p:nvPr/>
        </p:nvPicPr>
        <p:blipFill>
          <a:blip r:embed="rId3">
            <a:alphaModFix/>
          </a:blip>
          <a:stretch>
            <a:fillRect/>
          </a:stretch>
        </p:blipFill>
        <p:spPr>
          <a:xfrm>
            <a:off x="3631950" y="1101525"/>
            <a:ext cx="5334900" cy="3086625"/>
          </a:xfrm>
          <a:prstGeom prst="rect">
            <a:avLst/>
          </a:prstGeom>
          <a:noFill/>
          <a:ln>
            <a:noFill/>
          </a:ln>
        </p:spPr>
      </p:pic>
      <p:sp>
        <p:nvSpPr>
          <p:cNvPr id="196" name="Google Shape;196;p20"/>
          <p:cNvSpPr txBox="1"/>
          <p:nvPr/>
        </p:nvSpPr>
        <p:spPr>
          <a:xfrm>
            <a:off x="8336400" y="348350"/>
            <a:ext cx="581100" cy="2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latin typeface="Lato"/>
                <a:ea typeface="Lato"/>
                <a:cs typeface="Lato"/>
                <a:sym typeface="Lato"/>
              </a:rPr>
              <a:t>5</a:t>
            </a:r>
            <a:endParaRPr sz="1300">
              <a:solidFill>
                <a:schemeClr val="l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Driver Plots - Evaluating suitability </a:t>
            </a:r>
            <a:endParaRPr/>
          </a:p>
        </p:txBody>
      </p:sp>
      <p:pic>
        <p:nvPicPr>
          <p:cNvPr id="202" name="Google Shape;202;p21"/>
          <p:cNvPicPr preferRelativeResize="0"/>
          <p:nvPr/>
        </p:nvPicPr>
        <p:blipFill>
          <a:blip r:embed="rId3">
            <a:alphaModFix/>
          </a:blip>
          <a:stretch>
            <a:fillRect/>
          </a:stretch>
        </p:blipFill>
        <p:spPr>
          <a:xfrm>
            <a:off x="152400" y="1460250"/>
            <a:ext cx="8839199" cy="339969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Midfield Driver Plots - evaluating suitability </a:t>
            </a:r>
            <a:endParaRPr/>
          </a:p>
        </p:txBody>
      </p:sp>
      <p:sp>
        <p:nvSpPr>
          <p:cNvPr id="208" name="Google Shape;208;p22"/>
          <p:cNvSpPr txBox="1"/>
          <p:nvPr>
            <p:ph idx="1" type="body"/>
          </p:nvPr>
        </p:nvSpPr>
        <p:spPr>
          <a:xfrm>
            <a:off x="1594750" y="981850"/>
            <a:ext cx="3334800" cy="1523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Even with team colours, it is very messy - there are 21 drivers with data this season.</a:t>
            </a:r>
            <a:endParaRPr/>
          </a:p>
          <a:p>
            <a:pPr indent="-311150" lvl="0" marL="457200" rtl="0" algn="l">
              <a:spcBef>
                <a:spcPts val="0"/>
              </a:spcBef>
              <a:spcAft>
                <a:spcPts val="0"/>
              </a:spcAft>
              <a:buSzPts val="1300"/>
              <a:buChar char="●"/>
            </a:pPr>
            <a:r>
              <a:rPr lang="en-GB"/>
              <a:t>This is not a suitable plot to view or analyse,  as the messy plot lacks proper information</a:t>
            </a:r>
            <a:endParaRPr/>
          </a:p>
        </p:txBody>
      </p:sp>
      <p:pic>
        <p:nvPicPr>
          <p:cNvPr id="209" name="Google Shape;209;p22"/>
          <p:cNvPicPr preferRelativeResize="0"/>
          <p:nvPr/>
        </p:nvPicPr>
        <p:blipFill>
          <a:blip r:embed="rId3">
            <a:alphaModFix/>
          </a:blip>
          <a:stretch>
            <a:fillRect/>
          </a:stretch>
        </p:blipFill>
        <p:spPr>
          <a:xfrm>
            <a:off x="3164825" y="2571750"/>
            <a:ext cx="5866224" cy="2409850"/>
          </a:xfrm>
          <a:prstGeom prst="rect">
            <a:avLst/>
          </a:prstGeom>
          <a:noFill/>
          <a:ln>
            <a:noFill/>
          </a:ln>
        </p:spPr>
      </p:pic>
      <p:sp>
        <p:nvSpPr>
          <p:cNvPr id="210" name="Google Shape;210;p22"/>
          <p:cNvSpPr txBox="1"/>
          <p:nvPr/>
        </p:nvSpPr>
        <p:spPr>
          <a:xfrm>
            <a:off x="55775" y="2567625"/>
            <a:ext cx="3042900" cy="25758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Font typeface="Lato"/>
              <a:buChar char="●"/>
            </a:pPr>
            <a:r>
              <a:rPr lang="en-GB" sz="1300">
                <a:solidFill>
                  <a:schemeClr val="lt1"/>
                </a:solidFill>
                <a:latin typeface="Lato"/>
                <a:ea typeface="Lato"/>
                <a:cs typeface="Lato"/>
                <a:sym typeface="Lato"/>
              </a:rPr>
              <a:t>Narrowing it down to 10 drivers, choosing positions 8th-15th in WDC for ‘midfield’ to consider how the distribution varies for these drivers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GB" sz="1300">
                <a:solidFill>
                  <a:schemeClr val="lt1"/>
                </a:solidFill>
                <a:latin typeface="Lato"/>
                <a:ea typeface="Lato"/>
                <a:cs typeface="Lato"/>
                <a:sym typeface="Lato"/>
              </a:rPr>
              <a:t>Even with half the data, it is still messy at certain points, with gaps for not finishing</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GB" sz="1300">
                <a:solidFill>
                  <a:schemeClr val="lt1"/>
                </a:solidFill>
                <a:latin typeface="Lato"/>
                <a:ea typeface="Lato"/>
                <a:cs typeface="Lato"/>
                <a:sym typeface="Lato"/>
              </a:rPr>
              <a:t>Likewise with average team finishes - a distribution is better </a:t>
            </a:r>
            <a:endParaRPr sz="1300">
              <a:solidFill>
                <a:schemeClr val="lt1"/>
              </a:solidFill>
              <a:latin typeface="Lato"/>
              <a:ea typeface="Lato"/>
              <a:cs typeface="Lato"/>
              <a:sym typeface="Lato"/>
            </a:endParaRPr>
          </a:p>
        </p:txBody>
      </p:sp>
      <p:sp>
        <p:nvSpPr>
          <p:cNvPr id="211" name="Google Shape;211;p22"/>
          <p:cNvSpPr txBox="1"/>
          <p:nvPr/>
        </p:nvSpPr>
        <p:spPr>
          <a:xfrm>
            <a:off x="8336400" y="348350"/>
            <a:ext cx="581100" cy="2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latin typeface="Lato"/>
                <a:ea typeface="Lato"/>
                <a:cs typeface="Lato"/>
                <a:sym typeface="Lato"/>
              </a:rPr>
              <a:t>6</a:t>
            </a:r>
            <a:endParaRPr sz="1300">
              <a:solidFill>
                <a:schemeClr val="l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Midfield Driver Plots </a:t>
            </a:r>
            <a:endParaRPr/>
          </a:p>
        </p:txBody>
      </p:sp>
      <p:pic>
        <p:nvPicPr>
          <p:cNvPr id="217" name="Google Shape;217;p23"/>
          <p:cNvPicPr preferRelativeResize="0"/>
          <p:nvPr/>
        </p:nvPicPr>
        <p:blipFill>
          <a:blip r:embed="rId3">
            <a:alphaModFix/>
          </a:blip>
          <a:stretch>
            <a:fillRect/>
          </a:stretch>
        </p:blipFill>
        <p:spPr>
          <a:xfrm>
            <a:off x="65800" y="1460250"/>
            <a:ext cx="5363719" cy="3530850"/>
          </a:xfrm>
          <a:prstGeom prst="rect">
            <a:avLst/>
          </a:prstGeom>
          <a:noFill/>
          <a:ln>
            <a:noFill/>
          </a:ln>
        </p:spPr>
      </p:pic>
      <p:sp>
        <p:nvSpPr>
          <p:cNvPr id="218" name="Google Shape;218;p23"/>
          <p:cNvSpPr txBox="1"/>
          <p:nvPr/>
        </p:nvSpPr>
        <p:spPr>
          <a:xfrm>
            <a:off x="5656675" y="1194550"/>
            <a:ext cx="3278100" cy="21525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Font typeface="Lato"/>
              <a:buChar char="●"/>
            </a:pPr>
            <a:r>
              <a:rPr lang="en-GB" sz="1300">
                <a:solidFill>
                  <a:schemeClr val="lt1"/>
                </a:solidFill>
                <a:latin typeface="Lato"/>
                <a:ea typeface="Lato"/>
                <a:cs typeface="Lato"/>
                <a:sym typeface="Lato"/>
              </a:rPr>
              <a:t>This more clearly shows the consistency of the midfield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GB" sz="1300">
                <a:solidFill>
                  <a:schemeClr val="lt1"/>
                </a:solidFill>
                <a:latin typeface="Lato"/>
                <a:ea typeface="Lato"/>
                <a:cs typeface="Lato"/>
                <a:sym typeface="Lato"/>
              </a:rPr>
              <a:t>This can also be further analysed by looking at the medians , it would be expected that it would be in standing order, but can see that is is not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GB" sz="1300">
                <a:solidFill>
                  <a:schemeClr val="lt1"/>
                </a:solidFill>
                <a:latin typeface="Lato"/>
                <a:ea typeface="Lato"/>
                <a:cs typeface="Lato"/>
                <a:sym typeface="Lato"/>
              </a:rPr>
              <a:t>This could be due to unusually good finishes, such as Hulkenberg’s podium and also retirements/ unclassified finishes</a:t>
            </a:r>
            <a:endParaRPr sz="1300">
              <a:solidFill>
                <a:schemeClr val="l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Driver Distribution</a:t>
            </a:r>
            <a:endParaRPr/>
          </a:p>
        </p:txBody>
      </p:sp>
      <p:sp>
        <p:nvSpPr>
          <p:cNvPr id="224" name="Google Shape;224;p24"/>
          <p:cNvSpPr txBox="1"/>
          <p:nvPr>
            <p:ph idx="1" type="body"/>
          </p:nvPr>
        </p:nvSpPr>
        <p:spPr>
          <a:xfrm>
            <a:off x="0" y="1417200"/>
            <a:ext cx="2258700" cy="3537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Another way to analyse driver consistency is using a violin plot, showing </a:t>
            </a:r>
            <a:r>
              <a:rPr lang="en-GB"/>
              <a:t>the</a:t>
            </a:r>
            <a:r>
              <a:rPr lang="en-GB"/>
              <a:t> density of each </a:t>
            </a:r>
            <a:r>
              <a:rPr lang="en-GB"/>
              <a:t>position</a:t>
            </a:r>
            <a:r>
              <a:rPr lang="en-GB"/>
              <a:t> they finish in </a:t>
            </a:r>
            <a:endParaRPr/>
          </a:p>
          <a:p>
            <a:pPr indent="-311150" lvl="0" marL="457200" rtl="0" algn="l">
              <a:spcBef>
                <a:spcPts val="1200"/>
              </a:spcBef>
              <a:spcAft>
                <a:spcPts val="0"/>
              </a:spcAft>
              <a:buSzPts val="1300"/>
              <a:buChar char="●"/>
            </a:pPr>
            <a:r>
              <a:rPr lang="en-GB"/>
              <a:t>PIA and VER show a </a:t>
            </a:r>
            <a:r>
              <a:rPr lang="en-GB"/>
              <a:t>triangular</a:t>
            </a:r>
            <a:r>
              <a:rPr lang="en-GB"/>
              <a:t> density - most dense in the </a:t>
            </a:r>
            <a:r>
              <a:rPr lang="en-GB"/>
              <a:t>higher</a:t>
            </a:r>
            <a:r>
              <a:rPr lang="en-GB"/>
              <a:t> positions with possibly 1 or 2 lower finishes </a:t>
            </a:r>
            <a:endParaRPr/>
          </a:p>
          <a:p>
            <a:pPr indent="-311150" lvl="0" marL="457200" rtl="0" algn="l">
              <a:spcBef>
                <a:spcPts val="0"/>
              </a:spcBef>
              <a:spcAft>
                <a:spcPts val="0"/>
              </a:spcAft>
              <a:buSzPts val="1300"/>
              <a:buChar char="●"/>
            </a:pPr>
            <a:r>
              <a:rPr lang="en-GB"/>
              <a:t>SAI ,  GAS, ALO and HAD show the most rectangular distributions - larger range of positions </a:t>
            </a:r>
            <a:endParaRPr/>
          </a:p>
        </p:txBody>
      </p:sp>
      <p:pic>
        <p:nvPicPr>
          <p:cNvPr id="225" name="Google Shape;225;p24"/>
          <p:cNvPicPr preferRelativeResize="0"/>
          <p:nvPr/>
        </p:nvPicPr>
        <p:blipFill>
          <a:blip r:embed="rId3">
            <a:alphaModFix/>
          </a:blip>
          <a:stretch>
            <a:fillRect/>
          </a:stretch>
        </p:blipFill>
        <p:spPr>
          <a:xfrm>
            <a:off x="2258725" y="1039675"/>
            <a:ext cx="6683398" cy="3209128"/>
          </a:xfrm>
          <a:prstGeom prst="rect">
            <a:avLst/>
          </a:prstGeom>
          <a:noFill/>
          <a:ln>
            <a:noFill/>
          </a:ln>
        </p:spPr>
      </p:pic>
      <p:sp>
        <p:nvSpPr>
          <p:cNvPr id="226" name="Google Shape;226;p24"/>
          <p:cNvSpPr txBox="1"/>
          <p:nvPr/>
        </p:nvSpPr>
        <p:spPr>
          <a:xfrm>
            <a:off x="8130000" y="234050"/>
            <a:ext cx="838200" cy="1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latin typeface="Lato"/>
                <a:ea typeface="Lato"/>
                <a:cs typeface="Lato"/>
                <a:sym typeface="Lato"/>
              </a:rPr>
              <a:t>7</a:t>
            </a:r>
            <a:endParaRPr sz="1300">
              <a:solidFill>
                <a:schemeClr val="l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Challenges Faced</a:t>
            </a:r>
            <a:endParaRPr/>
          </a:p>
        </p:txBody>
      </p:sp>
      <p:sp>
        <p:nvSpPr>
          <p:cNvPr id="232" name="Google Shape;232;p2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Cleaning the data - focussed on classified finishes (P1-P20) , errors in team names  other details </a:t>
            </a:r>
            <a:endParaRPr/>
          </a:p>
          <a:p>
            <a:pPr indent="-311150" lvl="0" marL="457200" rtl="0" algn="l">
              <a:spcBef>
                <a:spcPts val="0"/>
              </a:spcBef>
              <a:spcAft>
                <a:spcPts val="0"/>
              </a:spcAft>
              <a:buSzPts val="1300"/>
              <a:buChar char="●"/>
            </a:pPr>
            <a:r>
              <a:rPr lang="en-GB"/>
              <a:t>Issues with merging sprint races and grand prix races successfully/ neatly</a:t>
            </a:r>
            <a:endParaRPr/>
          </a:p>
          <a:p>
            <a:pPr indent="-311150" lvl="0" marL="457200" rtl="0" algn="l">
              <a:spcBef>
                <a:spcPts val="0"/>
              </a:spcBef>
              <a:spcAft>
                <a:spcPts val="0"/>
              </a:spcAft>
              <a:buSzPts val="1300"/>
              <a:buChar char="●"/>
            </a:pPr>
            <a:r>
              <a:rPr lang="en-GB"/>
              <a:t>Messy plots - 21 drivers and 10 teams </a:t>
            </a:r>
            <a:r>
              <a:rPr lang="en-GB"/>
              <a:t>initially made it difficult to find ‘clean’ plots that were not just ‘dots’ and messy lines</a:t>
            </a:r>
            <a:endParaRPr/>
          </a:p>
          <a:p>
            <a:pPr indent="-311150" lvl="0" marL="457200" rtl="0" algn="l">
              <a:spcBef>
                <a:spcPts val="0"/>
              </a:spcBef>
              <a:spcAft>
                <a:spcPts val="0"/>
              </a:spcAft>
              <a:buSzPts val="1300"/>
              <a:buChar char="●"/>
            </a:pPr>
            <a:r>
              <a:rPr lang="en-GB"/>
              <a:t>Getting used to using GitHub and Git repositories. </a:t>
            </a:r>
            <a:endParaRPr/>
          </a:p>
          <a:p>
            <a:pPr indent="-311150" lvl="0" marL="457200" rtl="0" algn="l">
              <a:spcBef>
                <a:spcPts val="0"/>
              </a:spcBef>
              <a:spcAft>
                <a:spcPts val="0"/>
              </a:spcAft>
              <a:buSzPts val="1300"/>
              <a:buChar char="●"/>
            </a:pPr>
            <a:r>
              <a:rPr lang="en-GB"/>
              <a:t>I did not think it was necessary to use multiple branches </a:t>
            </a:r>
            <a:endParaRPr/>
          </a:p>
          <a:p>
            <a:pPr indent="-311150" lvl="0" marL="457200" rtl="0" algn="l">
              <a:spcBef>
                <a:spcPts val="0"/>
              </a:spcBef>
              <a:spcAft>
                <a:spcPts val="0"/>
              </a:spcAft>
              <a:buSzPts val="1300"/>
              <a:buChar char="●"/>
            </a:pPr>
            <a:r>
              <a:rPr lang="en-GB"/>
              <a:t>Other general small issues with codes with easy fixes (code errors etc.)</a:t>
            </a:r>
            <a:endParaRPr/>
          </a:p>
          <a:p>
            <a:pPr indent="-311150" lvl="0" marL="457200" rtl="0" algn="l">
              <a:spcBef>
                <a:spcPts val="0"/>
              </a:spcBef>
              <a:spcAft>
                <a:spcPts val="0"/>
              </a:spcAft>
              <a:buSzPts val="1300"/>
              <a:buChar char="●"/>
            </a:pPr>
            <a:r>
              <a:rPr lang="en-GB"/>
              <a:t>Choosing which plots are the best to analyse and evaluate </a:t>
            </a:r>
            <a:endParaRPr/>
          </a:p>
          <a:p>
            <a:pPr indent="-311150" lvl="0" marL="457200" rtl="0" algn="l">
              <a:spcBef>
                <a:spcPts val="0"/>
              </a:spcBef>
              <a:spcAft>
                <a:spcPts val="0"/>
              </a:spcAft>
              <a:buSzPts val="1300"/>
              <a:buChar char="●"/>
            </a:pPr>
            <a:r>
              <a:rPr lang="en-GB"/>
              <a:t>Finalising what I want to show with my dataset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